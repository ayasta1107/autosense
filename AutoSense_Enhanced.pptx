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5832" y="-1463040"/>
            <a:ext cx="4023360" cy="402336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31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AutoSense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Vehicle Diagnosis &amp; Repair Assistant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8368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Diagnose.  Remember.  Find help.</a:t>
            </a:r>
            <a:endParaRPr lang="en-US" sz="1700" dirty="0"/>
          </a:p>
        </p:txBody>
      </p:sp>
      <p:pic>
        <p:nvPicPr>
          <p:cNvPr id="8" name="Image 1" descr="/home/claude/autosense/ph_dark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4206240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8368" y="5440680"/>
            <a:ext cx="2926080" cy="0"/>
          </a:xfrm>
          <a:prstGeom prst="line">
            <a:avLst/>
          </a:prstGeom>
          <a:noFill/>
          <a:ln w="12700">
            <a:solidFill>
              <a:srgbClr val="3A437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Atsaya VK   •   Reg. No. 25105031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A, 2nd Year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452360" y="685800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1A235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978408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9640" y="886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CONTEXT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549640" y="12161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often can't tell what a symptom means or how urgent it is.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52360" y="2368296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1A235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660904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25694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549640" y="289864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+ repair history for preliminary diagnosis.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452360" y="4050792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1A235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4343400"/>
            <a:ext cx="6858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49640" y="4251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549640" y="458114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vehicle owners seeking quick guidance.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ownership today comes with real friction — from the first strange noise to the final repair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91840" cy="4251960"/>
          </a:xfrm>
          <a:prstGeom prst="roundRect">
            <a:avLst>
              <a:gd name="adj" fmla="val 2778"/>
            </a:avLst>
          </a:prstGeom>
          <a:solidFill>
            <a:srgbClr val="10173A"/>
          </a:solidFill>
          <a:ln/>
        </p:spPr>
      </p:sp>
      <p:pic>
        <p:nvPicPr>
          <p:cNvPr id="6" name="Image 0" descr="/home/claude/autosense/ph_dark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2743200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709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between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 and solution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532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from noticing a problem to getting it fixed is disconnected.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DF1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13969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20482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symptoms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20640" y="23500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notice sounds, damage, or performance issues but can't identify the cause.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51960" y="2875788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DF1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04952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95808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guidance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120640" y="325983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judge how serious a problem is or what to inspect.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251960" y="3785616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DF1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395935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0640" y="386791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120640" y="41696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and service records are scattered or forgotten over time.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251960" y="4695444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DF1F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48691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0" y="477774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help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120640" y="50794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mechanic for a specific issue takes effort.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51960" y="5605272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DF1F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577900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0640" y="56875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120640" y="59893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for diagnosis, history, and service is missing.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</a:t>
            </a:r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Vehicle Diagnosis Assistant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combines an image, symptom description, sound recording, and vehicle details to suggest possible problems, confidence, priority, components, and an approximate repair-cost range.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EDF1F9"/>
          </a:solidFill>
          <a:ln/>
        </p:spPr>
      </p:sp>
      <p:pic>
        <p:nvPicPr>
          <p:cNvPr id="6" name="Image 0" descr="/home/claude/autosense/ph_ligh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395935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258568" y="379476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EDF1F9"/>
          </a:solidFill>
          <a:ln/>
        </p:spPr>
      </p:sp>
      <p:pic>
        <p:nvPicPr>
          <p:cNvPr id="9" name="Image 1" descr="/home/claude/autosense/ph_light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3959352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58568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877056" y="379476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EDF1F9"/>
          </a:solidFill>
          <a:ln/>
        </p:spPr>
      </p:sp>
      <p:pic>
        <p:nvPicPr>
          <p:cNvPr id="12" name="Image 2" descr="/home/claude/autosense/ph_light_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3959352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77056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text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95544" y="3794760"/>
            <a:ext cx="1417320" cy="1463040"/>
          </a:xfrm>
          <a:prstGeom prst="roundRect">
            <a:avLst>
              <a:gd name="adj" fmla="val 6452"/>
            </a:avLst>
          </a:prstGeom>
          <a:solidFill>
            <a:srgbClr val="EDF1F9"/>
          </a:solidFill>
          <a:ln/>
        </p:spPr>
      </p:sp>
      <p:pic>
        <p:nvPicPr>
          <p:cNvPr id="15" name="Image 3" descr="/home/claude/autosense/ph_light_sm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3959352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95544" y="4709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details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0" y="1554480"/>
            <a:ext cx="4251960" cy="4709160"/>
          </a:xfrm>
          <a:prstGeom prst="roundRect">
            <a:avLst>
              <a:gd name="adj" fmla="val 2581"/>
            </a:avLst>
          </a:prstGeom>
          <a:solidFill>
            <a:srgbClr val="10173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7452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12480" y="1993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owners get back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7635240" y="2779776"/>
            <a:ext cx="100584" cy="10058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1" name="Text 14"/>
          <p:cNvSpPr/>
          <p:nvPr/>
        </p:nvSpPr>
        <p:spPr>
          <a:xfrm>
            <a:off x="7882128" y="26517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7882128" y="29352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of the probable issue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635240" y="3474720"/>
            <a:ext cx="100584" cy="10058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4" name="Text 17"/>
          <p:cNvSpPr/>
          <p:nvPr/>
        </p:nvSpPr>
        <p:spPr>
          <a:xfrm>
            <a:off x="7882128" y="33467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882128" y="3630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certain the model is in the result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635240" y="4169664"/>
            <a:ext cx="100584" cy="10058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7" name="Text 20"/>
          <p:cNvSpPr/>
          <p:nvPr/>
        </p:nvSpPr>
        <p:spPr>
          <a:xfrm>
            <a:off x="7882128" y="40416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882128" y="43251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— safe to drive or needs attention now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635240" y="4864608"/>
            <a:ext cx="100584" cy="10058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0" name="Text 23"/>
          <p:cNvSpPr/>
          <p:nvPr/>
        </p:nvSpPr>
        <p:spPr>
          <a:xfrm>
            <a:off x="7882128" y="4736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components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882128" y="50200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most likely involved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635240" y="5559552"/>
            <a:ext cx="100584" cy="10058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3" name="Text 26"/>
          <p:cNvSpPr/>
          <p:nvPr/>
        </p:nvSpPr>
        <p:spPr>
          <a:xfrm>
            <a:off x="7882128" y="54315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Repair-cost range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882128" y="5715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estimate to plan ahead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AI Role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capabilities work together to interpret a vehicle problem from multiple angles.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40280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classifies visible vehicle damage or components from images.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240280"/>
            <a:ext cx="658368" cy="658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2286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Classification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47688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unusual sounds such as clicking, squealing, grinding, knocking, or humming.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34840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4480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/ Multimodal AI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32688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symptom description and combines image, audio, and text inputs.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34840"/>
            <a:ext cx="658368" cy="6583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4480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Model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647688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symptoms and repair history to suggest causes and next steps.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symptom to solved — an eight-step journey through the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48840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21305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8346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vehicle details.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286664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96596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57016" y="2148840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13" name="Text 9"/>
          <p:cNvSpPr/>
          <p:nvPr/>
        </p:nvSpPr>
        <p:spPr>
          <a:xfrm>
            <a:off x="355701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13055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28346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image, sound, and symptom text.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866644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71616" y="196596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272784" y="2148840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19" name="Text 13"/>
          <p:cNvSpPr/>
          <p:nvPr/>
        </p:nvSpPr>
        <p:spPr>
          <a:xfrm>
            <a:off x="62727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130552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72784" y="28346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the available inputs.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2866644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87384" y="196596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988552" y="2148840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25" name="Text 17"/>
          <p:cNvSpPr/>
          <p:nvPr/>
        </p:nvSpPr>
        <p:spPr>
          <a:xfrm>
            <a:off x="898855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6" y="2130552"/>
            <a:ext cx="502920" cy="5029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988552" y="2834640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 combines evidence with history.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40080" y="409651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841248" y="4279392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30" name="Text 21"/>
          <p:cNvSpPr/>
          <p:nvPr/>
        </p:nvSpPr>
        <p:spPr>
          <a:xfrm>
            <a:off x="841248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4261104"/>
            <a:ext cx="502920" cy="5029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41248" y="4965192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problem, confidence, priority, components.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544" y="4997196"/>
            <a:ext cx="164592" cy="16459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3355848" y="409651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3557016" y="4279392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36" name="Text 25"/>
          <p:cNvSpPr/>
          <p:nvPr/>
        </p:nvSpPr>
        <p:spPr>
          <a:xfrm>
            <a:off x="3557016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261104"/>
            <a:ext cx="502920" cy="5029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557016" y="4965192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finds a suitable mechanic or service.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2" y="4997196"/>
            <a:ext cx="164592" cy="16459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071616" y="409651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1" name="Shape 28"/>
          <p:cNvSpPr/>
          <p:nvPr/>
        </p:nvSpPr>
        <p:spPr>
          <a:xfrm>
            <a:off x="6272784" y="4279392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2" name="Text 29"/>
          <p:cNvSpPr/>
          <p:nvPr/>
        </p:nvSpPr>
        <p:spPr>
          <a:xfrm>
            <a:off x="6272784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73568" y="4261104"/>
            <a:ext cx="502920" cy="50292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272784" y="4965192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repairs are saved to vehicle history.</a:t>
            </a:r>
            <a:endParaRPr lang="en-US" sz="12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0" y="4997196"/>
            <a:ext cx="164592" cy="164592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787384" y="409651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7" name="Shape 32"/>
          <p:cNvSpPr/>
          <p:nvPr/>
        </p:nvSpPr>
        <p:spPr>
          <a:xfrm>
            <a:off x="8988552" y="4279392"/>
            <a:ext cx="457200" cy="457200"/>
          </a:xfrm>
          <a:prstGeom prst="ellipse">
            <a:avLst/>
          </a:prstGeom>
          <a:solidFill>
            <a:srgbClr val="10173A"/>
          </a:solidFill>
          <a:ln/>
        </p:spPr>
      </p:sp>
      <p:sp>
        <p:nvSpPr>
          <p:cNvPr id="48" name="Text 33"/>
          <p:cNvSpPr/>
          <p:nvPr/>
        </p:nvSpPr>
        <p:spPr>
          <a:xfrm>
            <a:off x="898855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9336" y="4261104"/>
            <a:ext cx="502920" cy="50292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988552" y="4965192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sent when the next service is due.</a:t>
            </a:r>
            <a:endParaRPr lang="en-US" sz="1200" dirty="0"/>
          </a:p>
        </p:txBody>
      </p:sp>
      <p:sp>
        <p:nvSpPr>
          <p:cNvPr id="51" name="Text 35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52" name="Text 36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5832" y="-1463040"/>
            <a:ext cx="4023360" cy="402336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A2350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2441448"/>
            <a:ext cx="768096" cy="768096"/>
          </a:xfrm>
          <a:prstGeom prst="ellipse">
            <a:avLst/>
          </a:prstGeom>
          <a:solidFill>
            <a:srgbClr val="242C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59689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3832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• Text • Audio • Vehicle details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22626" y="3401568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2" name="Shape 9"/>
          <p:cNvSpPr/>
          <p:nvPr/>
        </p:nvSpPr>
        <p:spPr>
          <a:xfrm>
            <a:off x="2866644" y="214884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A235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5012" y="2441448"/>
            <a:ext cx="768096" cy="768096"/>
          </a:xfrm>
          <a:prstGeom prst="ellipse">
            <a:avLst/>
          </a:prstGeom>
          <a:solidFill>
            <a:srgbClr val="242C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59689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6372" y="33832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003804" y="3977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• NLP • Audio classification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949190" y="3401568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18" name="Shape 14"/>
          <p:cNvSpPr/>
          <p:nvPr/>
        </p:nvSpPr>
        <p:spPr>
          <a:xfrm>
            <a:off x="5093208" y="214884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A2350"/>
          </a:solidFill>
          <a:ln/>
        </p:spPr>
      </p:sp>
      <p:sp>
        <p:nvSpPr>
          <p:cNvPr id="19" name="Shape 15"/>
          <p:cNvSpPr/>
          <p:nvPr/>
        </p:nvSpPr>
        <p:spPr>
          <a:xfrm>
            <a:off x="5751576" y="2441448"/>
            <a:ext cx="768096" cy="768096"/>
          </a:xfrm>
          <a:prstGeom prst="ellipse">
            <a:avLst/>
          </a:prstGeom>
          <a:solidFill>
            <a:srgbClr val="242C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59689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33832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230368" y="3977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• Confidence • Priority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175754" y="3401568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24" name="Shape 19"/>
          <p:cNvSpPr/>
          <p:nvPr/>
        </p:nvSpPr>
        <p:spPr>
          <a:xfrm>
            <a:off x="7319772" y="214884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A2350"/>
          </a:solidFill>
          <a:ln/>
        </p:spPr>
      </p:sp>
      <p:sp>
        <p:nvSpPr>
          <p:cNvPr id="25" name="Shape 20"/>
          <p:cNvSpPr/>
          <p:nvPr/>
        </p:nvSpPr>
        <p:spPr>
          <a:xfrm>
            <a:off x="7978140" y="2441448"/>
            <a:ext cx="768096" cy="768096"/>
          </a:xfrm>
          <a:prstGeom prst="ellipse">
            <a:avLst/>
          </a:prstGeom>
          <a:solidFill>
            <a:srgbClr val="242C5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88" y="259689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29500" y="33832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456932" y="3977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with past repairs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402318" y="3401568"/>
            <a:ext cx="146304" cy="146304"/>
          </a:xfrm>
          <a:prstGeom prst="ellipse">
            <a:avLst/>
          </a:prstGeom>
          <a:solidFill>
            <a:srgbClr val="2FBF9F"/>
          </a:solidFill>
          <a:ln/>
        </p:spPr>
      </p:sp>
      <p:sp>
        <p:nvSpPr>
          <p:cNvPr id="30" name="Shape 24"/>
          <p:cNvSpPr/>
          <p:nvPr/>
        </p:nvSpPr>
        <p:spPr>
          <a:xfrm>
            <a:off x="9546336" y="214884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A2350"/>
          </a:solidFill>
          <a:ln/>
        </p:spPr>
      </p:sp>
      <p:sp>
        <p:nvSpPr>
          <p:cNvPr id="31" name="Shape 25"/>
          <p:cNvSpPr/>
          <p:nvPr/>
        </p:nvSpPr>
        <p:spPr>
          <a:xfrm>
            <a:off x="10204704" y="2441448"/>
            <a:ext cx="768096" cy="768096"/>
          </a:xfrm>
          <a:prstGeom prst="ellipse">
            <a:avLst/>
          </a:prstGeom>
          <a:solidFill>
            <a:srgbClr val="242C5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259689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56064" y="33832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 + Reminders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683496" y="397764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1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discovery, follow-up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40080" y="5257800"/>
            <a:ext cx="10991088" cy="640080"/>
          </a:xfrm>
          <a:prstGeom prst="roundRect">
            <a:avLst>
              <a:gd name="adj" fmla="val 50000"/>
            </a:avLst>
          </a:prstGeom>
          <a:solidFill>
            <a:srgbClr val="1A2350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0080" y="5257800"/>
            <a:ext cx="10991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result   →   history update   →   smarter future recommendations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8775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289864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/ React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55848" y="169164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892808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7016" y="258775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57016" y="289864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/ FastAPI or Node.js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71616" y="169164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92808"/>
            <a:ext cx="530352" cy="5303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72784" y="258775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72784" y="289864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or a suitable image classifier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787384" y="169164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1892808"/>
            <a:ext cx="530352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88552" y="258775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AI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988552" y="2898648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Spectrogram-based audio classifier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82219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023360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4718304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AI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41248" y="50292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 multimodal AI API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55848" y="382219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023360"/>
            <a:ext cx="530352" cy="5303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57016" y="4718304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3557016" y="50292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/ Firebase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71616" y="382219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4023360"/>
            <a:ext cx="530352" cy="53035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72784" y="4718304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6272784" y="50292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local object storage for media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787384" y="3822192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8552" y="4023360"/>
            <a:ext cx="530352" cy="53035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988552" y="4718304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88552" y="50292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web, or mobile alerts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History &amp; Service Reminders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builds a memory — and the platform acts on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017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8483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History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08152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346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previous repair record per vehicle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986784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233672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986784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related past repairs for a recurring symptom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5138928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385816"/>
            <a:ext cx="512064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513892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each diagnosis more personalized over time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45352" y="196596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10173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084832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68312" y="19659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Reminders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45352" y="28346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081528"/>
            <a:ext cx="512064" cy="51206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59752" y="28346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service schedule automatically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245352" y="3986784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233672"/>
            <a:ext cx="512064" cy="51206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59752" y="3986784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Reminds owners for regular servicing and oil change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245352" y="5138928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DF1F9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808" y="5385816"/>
            <a:ext cx="512064" cy="51206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159752" y="513892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tyre, battery, and brake inspection reminders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2039112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Guidance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insight before visiting a mechanic.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70248" y="178308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852" y="2039112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7408" y="28346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Input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98848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rely on an image alone.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00416" y="1783080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039112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37576" y="28346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29016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improve using repair history.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913632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84" y="4169664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496519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Language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68680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technical issues simply.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70248" y="3913632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852" y="4169664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07408" y="496519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Record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498848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lasting maintenance history for every vehicle.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900416" y="3913632"/>
            <a:ext cx="350215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4169664"/>
            <a:ext cx="694944" cy="6949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37576" y="496519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Care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29016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reduce missed maintenance.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5832" y="-1463040"/>
            <a:ext cx="4023360" cy="402336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4" name="Image 0" descr="/home/claude/autosense/ph_dark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1356" y="502920"/>
            <a:ext cx="420624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705356" y="27432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 combines multimodal AI, vehicle information, repair history, and service reminders into one preventive maintenance assistant — helping owners understand issues, find repair support, and stay ahead of upcoming service.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11196" y="4160520"/>
            <a:ext cx="6766560" cy="685800"/>
          </a:xfrm>
          <a:prstGeom prst="roundRect">
            <a:avLst>
              <a:gd name="adj" fmla="val 50667"/>
            </a:avLst>
          </a:prstGeom>
          <a:solidFill>
            <a:srgbClr val="1A2350"/>
          </a:solidFill>
          <a:ln w="12700">
            <a:solidFill>
              <a:srgbClr val="2FBF9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02636" y="4160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diagnosis — it never replaces a qualified mechanic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AutoSense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455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2026-09-05T14:51:36Z</dcterms:created>
  <dcterms:modified xsi:type="dcterms:W3CDTF">2026-09-05T14:51:36Z</dcterms:modified>
</cp:coreProperties>
</file>